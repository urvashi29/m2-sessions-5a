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8"/>
  </p:notesMasterIdLst>
  <p:sldIdLst>
    <p:sldId id="256" r:id="rId3"/>
    <p:sldId id="257" r:id="rId4"/>
    <p:sldId id="288" r:id="rId5"/>
    <p:sldId id="264" r:id="rId6"/>
    <p:sldId id="263" r:id="rId7"/>
  </p:sldIdLst>
  <p:sldSz cx="9144000" cy="5143500" type="screen16x9"/>
  <p:notesSz cx="6858000" cy="9144000"/>
  <p:embeddedFontLst>
    <p:embeddedFont>
      <p:font typeface="AngsanaUPC" panose="02020603050405020304" pitchFamily="18" charset="-34"/>
      <p:regular r:id="rId9"/>
      <p:bold r:id="rId10"/>
      <p:italic r:id="rId11"/>
      <p:boldItalic r:id="rId12"/>
    </p:embeddedFont>
    <p:embeddedFont>
      <p:font typeface="Montserrat" panose="00000500000000000000"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81" autoAdjust="0"/>
    <p:restoredTop sz="94660"/>
  </p:normalViewPr>
  <p:slideViewPr>
    <p:cSldViewPr snapToGrid="0">
      <p:cViewPr varScale="1">
        <p:scale>
          <a:sx n="84" d="100"/>
          <a:sy n="84" d="100"/>
        </p:scale>
        <p:origin x="592"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111b9594e4_6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111b9594e4_6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ea56a5013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g2ea56a5013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263607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ea56a50138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ea56a50138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132e99b63a_2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132e99b63a_2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www.almabetter.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1" name="Google Shape;4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106125"/>
            <a:ext cx="8520600" cy="19638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152225"/>
            <a:ext cx="8520600" cy="1300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1"/>
        <p:cNvGrpSpPr/>
        <p:nvPr/>
      </p:nvGrpSpPr>
      <p:grpSpPr>
        <a:xfrm>
          <a:off x="0" y="0"/>
          <a:ext cx="0" cy="0"/>
          <a:chOff x="0" y="0"/>
          <a:chExt cx="0" cy="0"/>
        </a:xfrm>
      </p:grpSpPr>
      <p:sp>
        <p:nvSpPr>
          <p:cNvPr id="52" name="Google Shape;52;p13"/>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53"/>
        <p:cNvGrpSpPr/>
        <p:nvPr/>
      </p:nvGrpSpPr>
      <p:grpSpPr>
        <a:xfrm>
          <a:off x="0" y="0"/>
          <a:ext cx="0" cy="0"/>
          <a:chOff x="0" y="0"/>
          <a:chExt cx="0" cy="0"/>
        </a:xfrm>
      </p:grpSpPr>
      <p:sp>
        <p:nvSpPr>
          <p:cNvPr id="54" name="Google Shape;54;p14"/>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5"/>
        <p:cNvGrpSpPr/>
        <p:nvPr/>
      </p:nvGrpSpPr>
      <p:grpSpPr>
        <a:xfrm>
          <a:off x="0" y="0"/>
          <a:ext cx="0" cy="0"/>
          <a:chOff x="0" y="0"/>
          <a:chExt cx="0" cy="0"/>
        </a:xfrm>
      </p:grpSpPr>
      <p:sp>
        <p:nvSpPr>
          <p:cNvPr id="56" name="Google Shape;56;p15"/>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7" name="Google Shape;57;p15"/>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8" name="Google Shape;58;p15"/>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59" name="Google Shape;59;p15"/>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60" name="Google Shape;60;p15"/>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01">
  <p:cSld name="Title Slide 01">
    <p:spTree>
      <p:nvGrpSpPr>
        <p:cNvPr id="1" name="Shape 62"/>
        <p:cNvGrpSpPr/>
        <p:nvPr/>
      </p:nvGrpSpPr>
      <p:grpSpPr>
        <a:xfrm>
          <a:off x="0" y="0"/>
          <a:ext cx="0" cy="0"/>
          <a:chOff x="0" y="0"/>
          <a:chExt cx="0" cy="0"/>
        </a:xfrm>
      </p:grpSpPr>
      <p:sp>
        <p:nvSpPr>
          <p:cNvPr id="63" name="Google Shape;63;p1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64" name="Google Shape;64;p17"/>
          <p:cNvPicPr preferRelativeResize="0"/>
          <p:nvPr/>
        </p:nvPicPr>
        <p:blipFill rotWithShape="1">
          <a:blip r:embed="rId2">
            <a:alphaModFix/>
          </a:blip>
          <a:srcRect/>
          <a:stretch/>
        </p:blipFill>
        <p:spPr>
          <a:xfrm>
            <a:off x="6648739" y="353676"/>
            <a:ext cx="2122282" cy="1054019"/>
          </a:xfrm>
          <a:prstGeom prst="rect">
            <a:avLst/>
          </a:prstGeom>
          <a:noFill/>
          <a:ln>
            <a:noFill/>
          </a:ln>
        </p:spPr>
      </p:pic>
      <p:sp>
        <p:nvSpPr>
          <p:cNvPr id="65" name="Google Shape;65;p17"/>
          <p:cNvSpPr/>
          <p:nvPr/>
        </p:nvSpPr>
        <p:spPr>
          <a:xfrm>
            <a:off x="324853" y="1407695"/>
            <a:ext cx="6324000" cy="34434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66" name="Google Shape;66;p17"/>
          <p:cNvSpPr txBox="1">
            <a:spLocks noGrp="1"/>
          </p:cNvSpPr>
          <p:nvPr>
            <p:ph type="body" idx="1"/>
          </p:nvPr>
        </p:nvSpPr>
        <p:spPr>
          <a:xfrm>
            <a:off x="520303" y="1609724"/>
            <a:ext cx="5781900" cy="2534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7" name="Google Shape;67;p17"/>
          <p:cNvSpPr txBox="1"/>
          <p:nvPr/>
        </p:nvSpPr>
        <p:spPr>
          <a:xfrm>
            <a:off x="469770" y="4511842"/>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0" i="0" u="none" strike="noStrike" cap="none">
                <a:solidFill>
                  <a:schemeClr val="lt1"/>
                </a:solidFill>
                <a:latin typeface="Arial"/>
                <a:ea typeface="Arial"/>
                <a:cs typeface="Arial"/>
                <a:sym typeface="Arial"/>
              </a:rPr>
              <a:t>www.almabetter.com</a:t>
            </a:r>
            <a:endParaRPr sz="11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8"/>
        <p:cNvGrpSpPr/>
        <p:nvPr/>
      </p:nvGrpSpPr>
      <p:grpSpPr>
        <a:xfrm>
          <a:off x="0" y="0"/>
          <a:ext cx="0" cy="0"/>
          <a:chOff x="0" y="0"/>
          <a:chExt cx="0" cy="0"/>
        </a:xfrm>
      </p:grpSpPr>
      <p:sp>
        <p:nvSpPr>
          <p:cNvPr id="69" name="Google Shape;69;p18"/>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0" name="Google Shape;70;p18"/>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1" name="Google Shape;71;p18"/>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72" name="Google Shape;72;p18"/>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3" name="Google Shape;73;p18"/>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mp; Content 02">
  <p:cSld name="Title &amp; Content 02">
    <p:spTree>
      <p:nvGrpSpPr>
        <p:cNvPr id="1" name="Shape 74"/>
        <p:cNvGrpSpPr/>
        <p:nvPr/>
      </p:nvGrpSpPr>
      <p:grpSpPr>
        <a:xfrm>
          <a:off x="0" y="0"/>
          <a:ext cx="0" cy="0"/>
          <a:chOff x="0" y="0"/>
          <a:chExt cx="0" cy="0"/>
        </a:xfrm>
      </p:grpSpPr>
      <p:sp>
        <p:nvSpPr>
          <p:cNvPr id="75" name="Google Shape;75;p19"/>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5400"/>
              <a:buFont typeface="Arial"/>
              <a:buNone/>
              <a:defRPr sz="54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6" name="Google Shape;76;p19"/>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dk1"/>
                </a:solidFill>
                <a:latin typeface="Arial"/>
                <a:ea typeface="Arial"/>
                <a:cs typeface="Arial"/>
                <a:sym typeface="Arial"/>
              </a:rPr>
              <a:t>www.almabetter.com</a:t>
            </a:r>
            <a:endParaRPr sz="1100"/>
          </a:p>
        </p:txBody>
      </p:sp>
      <p:sp>
        <p:nvSpPr>
          <p:cNvPr id="77" name="Google Shape;77;p19"/>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8" name="Google Shape;78;p19"/>
          <p:cNvPicPr preferRelativeResize="0"/>
          <p:nvPr/>
        </p:nvPicPr>
        <p:blipFill rotWithShape="1">
          <a:blip r:embed="rId2">
            <a:alphaModFix/>
          </a:blip>
          <a:srcRect/>
          <a:stretch/>
        </p:blipFill>
        <p:spPr>
          <a:xfrm>
            <a:off x="6085572" y="401522"/>
            <a:ext cx="2692666" cy="27696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bout">
  <p:cSld name="About">
    <p:spTree>
      <p:nvGrpSpPr>
        <p:cNvPr id="1" name="Shape 84"/>
        <p:cNvGrpSpPr/>
        <p:nvPr/>
      </p:nvGrpSpPr>
      <p:grpSpPr>
        <a:xfrm>
          <a:off x="0" y="0"/>
          <a:ext cx="0" cy="0"/>
          <a:chOff x="0" y="0"/>
          <a:chExt cx="0" cy="0"/>
        </a:xfrm>
      </p:grpSpPr>
      <p:sp>
        <p:nvSpPr>
          <p:cNvPr id="85" name="Google Shape;85;p21"/>
          <p:cNvSpPr/>
          <p:nvPr/>
        </p:nvSpPr>
        <p:spPr>
          <a:xfrm>
            <a:off x="3030494" y="0"/>
            <a:ext cx="61134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6" name="Google Shape;86;p21"/>
          <p:cNvSpPr txBox="1"/>
          <p:nvPr/>
        </p:nvSpPr>
        <p:spPr>
          <a:xfrm>
            <a:off x="454111" y="417040"/>
            <a:ext cx="2205600" cy="900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5400" b="1" i="0">
                <a:solidFill>
                  <a:srgbClr val="F00037"/>
                </a:solidFill>
                <a:latin typeface="Arial"/>
                <a:ea typeface="Arial"/>
                <a:cs typeface="Arial"/>
                <a:sym typeface="Arial"/>
              </a:rPr>
              <a:t>About</a:t>
            </a:r>
            <a:endParaRPr sz="1100"/>
          </a:p>
        </p:txBody>
      </p:sp>
      <p:sp>
        <p:nvSpPr>
          <p:cNvPr id="87" name="Google Shape;87;p21"/>
          <p:cNvSpPr txBox="1"/>
          <p:nvPr/>
        </p:nvSpPr>
        <p:spPr>
          <a:xfrm>
            <a:off x="3679224" y="713603"/>
            <a:ext cx="5010600" cy="1793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a:solidFill>
                  <a:schemeClr val="lt1"/>
                </a:solidFill>
                <a:latin typeface="Arial"/>
                <a:ea typeface="Arial"/>
                <a:cs typeface="Arial"/>
                <a:sym typeface="Arial"/>
              </a:rPr>
              <a:t>AlmaBetter is a learner-centric career growth institute, that provides T.R.U.E. learning to every ambitious growth aspirant, enabling them to acquire the skills of tomorrow and get assured results.</a:t>
            </a:r>
            <a:endParaRPr sz="1100"/>
          </a:p>
          <a:p>
            <a:pPr marL="0" marR="0" lvl="0" indent="0" algn="l" rtl="0">
              <a:spcBef>
                <a:spcPts val="0"/>
              </a:spcBef>
              <a:spcAft>
                <a:spcPts val="0"/>
              </a:spcAft>
              <a:buNone/>
            </a:pPr>
            <a:endParaRPr sz="1400">
              <a:solidFill>
                <a:schemeClr val="lt1"/>
              </a:solidFill>
              <a:latin typeface="Arial"/>
              <a:ea typeface="Arial"/>
              <a:cs typeface="Arial"/>
              <a:sym typeface="Arial"/>
            </a:endParaRPr>
          </a:p>
          <a:p>
            <a:pPr marL="0" marR="0" lvl="0" indent="0" algn="l" rtl="0">
              <a:spcBef>
                <a:spcPts val="0"/>
              </a:spcBef>
              <a:spcAft>
                <a:spcPts val="0"/>
              </a:spcAft>
              <a:buNone/>
            </a:pPr>
            <a:r>
              <a:rPr lang="en-GB" sz="1400">
                <a:solidFill>
                  <a:schemeClr val="lt1"/>
                </a:solidFill>
                <a:latin typeface="Arial"/>
                <a:ea typeface="Arial"/>
                <a:cs typeface="Arial"/>
                <a:sym typeface="Arial"/>
              </a:rPr>
              <a:t>We are revolutionising the way skills, experiences, and learning outcomes are delivered online. Join the largest tech community and fast forward your career with AlmaBetter.</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88"/>
        <p:cNvGrpSpPr/>
        <p:nvPr/>
      </p:nvGrpSpPr>
      <p:grpSpPr>
        <a:xfrm>
          <a:off x="0" y="0"/>
          <a:ext cx="0" cy="0"/>
          <a:chOff x="0" y="0"/>
          <a:chExt cx="0" cy="0"/>
        </a:xfrm>
      </p:grpSpPr>
      <p:sp>
        <p:nvSpPr>
          <p:cNvPr id="89" name="Google Shape;89;p22"/>
          <p:cNvSpPr txBox="1">
            <a:spLocks noGrp="1"/>
          </p:cNvSpPr>
          <p:nvPr>
            <p:ph type="body" idx="1"/>
          </p:nvPr>
        </p:nvSpPr>
        <p:spPr>
          <a:xfrm>
            <a:off x="375386" y="368066"/>
            <a:ext cx="76737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90" name="Google Shape;90;p22"/>
          <p:cNvPicPr preferRelativeResize="0"/>
          <p:nvPr/>
        </p:nvPicPr>
        <p:blipFill rotWithShape="1">
          <a:blip r:embed="rId2">
            <a:alphaModFix/>
          </a:blip>
          <a:srcRect/>
          <a:stretch/>
        </p:blipFill>
        <p:spPr>
          <a:xfrm>
            <a:off x="375386" y="4793310"/>
            <a:ext cx="830144" cy="138358"/>
          </a:xfrm>
          <a:prstGeom prst="rect">
            <a:avLst/>
          </a:prstGeom>
          <a:noFill/>
          <a:ln>
            <a:noFill/>
          </a:ln>
        </p:spPr>
      </p:pic>
      <p:pic>
        <p:nvPicPr>
          <p:cNvPr id="91" name="Google Shape;91;p22"/>
          <p:cNvPicPr preferRelativeResize="0"/>
          <p:nvPr/>
        </p:nvPicPr>
        <p:blipFill rotWithShape="1">
          <a:blip r:embed="rId3">
            <a:alphaModFix/>
          </a:blip>
          <a:srcRect/>
          <a:stretch/>
        </p:blipFill>
        <p:spPr>
          <a:xfrm>
            <a:off x="8265895" y="4748764"/>
            <a:ext cx="570095" cy="197340"/>
          </a:xfrm>
          <a:prstGeom prst="rect">
            <a:avLst/>
          </a:prstGeom>
          <a:noFill/>
          <a:ln>
            <a:noFill/>
          </a:ln>
        </p:spPr>
      </p:pic>
      <p:sp>
        <p:nvSpPr>
          <p:cNvPr id="92" name="Google Shape;92;p22"/>
          <p:cNvSpPr txBox="1">
            <a:spLocks noGrp="1"/>
          </p:cNvSpPr>
          <p:nvPr>
            <p:ph type="body" idx="2"/>
          </p:nvPr>
        </p:nvSpPr>
        <p:spPr>
          <a:xfrm>
            <a:off x="375385" y="1606587"/>
            <a:ext cx="7673700" cy="258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p:cSld name="Numbers">
    <p:spTree>
      <p:nvGrpSpPr>
        <p:cNvPr id="1" name="Shape 93"/>
        <p:cNvGrpSpPr/>
        <p:nvPr/>
      </p:nvGrpSpPr>
      <p:grpSpPr>
        <a:xfrm>
          <a:off x="0" y="0"/>
          <a:ext cx="0" cy="0"/>
          <a:chOff x="0" y="0"/>
          <a:chExt cx="0" cy="0"/>
        </a:xfrm>
      </p:grpSpPr>
      <p:sp>
        <p:nvSpPr>
          <p:cNvPr id="94" name="Google Shape;94;p23"/>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95" name="Google Shape;95;p23"/>
          <p:cNvPicPr preferRelativeResize="0"/>
          <p:nvPr/>
        </p:nvPicPr>
        <p:blipFill rotWithShape="1">
          <a:blip r:embed="rId2">
            <a:alphaModFix/>
          </a:blip>
          <a:srcRect/>
          <a:stretch/>
        </p:blipFill>
        <p:spPr>
          <a:xfrm>
            <a:off x="8265539" y="4743467"/>
            <a:ext cx="570452" cy="197340"/>
          </a:xfrm>
          <a:prstGeom prst="rect">
            <a:avLst/>
          </a:prstGeom>
          <a:noFill/>
          <a:ln>
            <a:noFill/>
          </a:ln>
        </p:spPr>
      </p:pic>
      <p:pic>
        <p:nvPicPr>
          <p:cNvPr id="96" name="Google Shape;96;p23"/>
          <p:cNvPicPr preferRelativeResize="0"/>
          <p:nvPr/>
        </p:nvPicPr>
        <p:blipFill rotWithShape="1">
          <a:blip r:embed="rId3">
            <a:alphaModFix/>
          </a:blip>
          <a:srcRect/>
          <a:stretch/>
        </p:blipFill>
        <p:spPr>
          <a:xfrm>
            <a:off x="375385" y="4800896"/>
            <a:ext cx="830146" cy="139911"/>
          </a:xfrm>
          <a:prstGeom prst="rect">
            <a:avLst/>
          </a:prstGeom>
          <a:noFill/>
          <a:ln>
            <a:noFill/>
          </a:ln>
        </p:spPr>
      </p:pic>
      <p:sp>
        <p:nvSpPr>
          <p:cNvPr id="97" name="Google Shape;97;p23"/>
          <p:cNvSpPr txBox="1">
            <a:spLocks noGrp="1"/>
          </p:cNvSpPr>
          <p:nvPr>
            <p:ph type="body" idx="1"/>
          </p:nvPr>
        </p:nvSpPr>
        <p:spPr>
          <a:xfrm>
            <a:off x="924025" y="1651285"/>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8" name="Google Shape;98;p23"/>
          <p:cNvSpPr txBox="1">
            <a:spLocks noGrp="1"/>
          </p:cNvSpPr>
          <p:nvPr>
            <p:ph type="body" idx="2"/>
          </p:nvPr>
        </p:nvSpPr>
        <p:spPr>
          <a:xfrm>
            <a:off x="3492767"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9" name="Google Shape;99;p23"/>
          <p:cNvSpPr txBox="1">
            <a:spLocks noGrp="1"/>
          </p:cNvSpPr>
          <p:nvPr>
            <p:ph type="body" idx="3"/>
          </p:nvPr>
        </p:nvSpPr>
        <p:spPr>
          <a:xfrm>
            <a:off x="6061509"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0" name="Google Shape;100;p23"/>
          <p:cNvSpPr txBox="1">
            <a:spLocks noGrp="1"/>
          </p:cNvSpPr>
          <p:nvPr>
            <p:ph type="body" idx="4"/>
          </p:nvPr>
        </p:nvSpPr>
        <p:spPr>
          <a:xfrm>
            <a:off x="924026"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1" name="Google Shape;101;p23"/>
          <p:cNvSpPr txBox="1">
            <a:spLocks noGrp="1"/>
          </p:cNvSpPr>
          <p:nvPr>
            <p:ph type="body" idx="5"/>
          </p:nvPr>
        </p:nvSpPr>
        <p:spPr>
          <a:xfrm>
            <a:off x="3492767" y="3017063"/>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2" name="Google Shape;102;p23"/>
          <p:cNvSpPr txBox="1">
            <a:spLocks noGrp="1"/>
          </p:cNvSpPr>
          <p:nvPr>
            <p:ph type="body" idx="6"/>
          </p:nvPr>
        </p:nvSpPr>
        <p:spPr>
          <a:xfrm>
            <a:off x="6061509"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amp; Numbers">
  <p:cSld name="Content &amp; Numbers">
    <p:spTree>
      <p:nvGrpSpPr>
        <p:cNvPr id="1" name="Shape 103"/>
        <p:cNvGrpSpPr/>
        <p:nvPr/>
      </p:nvGrpSpPr>
      <p:grpSpPr>
        <a:xfrm>
          <a:off x="0" y="0"/>
          <a:ext cx="0" cy="0"/>
          <a:chOff x="0" y="0"/>
          <a:chExt cx="0" cy="0"/>
        </a:xfrm>
      </p:grpSpPr>
      <p:sp>
        <p:nvSpPr>
          <p:cNvPr id="104" name="Google Shape;104;p24"/>
          <p:cNvSpPr/>
          <p:nvPr/>
        </p:nvSpPr>
        <p:spPr>
          <a:xfrm>
            <a:off x="4572000" y="0"/>
            <a:ext cx="4572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05" name="Google Shape;105;p24"/>
          <p:cNvSpPr txBox="1">
            <a:spLocks noGrp="1"/>
          </p:cNvSpPr>
          <p:nvPr>
            <p:ph type="body" idx="1"/>
          </p:nvPr>
        </p:nvSpPr>
        <p:spPr>
          <a:xfrm>
            <a:off x="5262614" y="369871"/>
            <a:ext cx="2894700" cy="15612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9000"/>
              <a:buFont typeface="Arial"/>
              <a:buNone/>
              <a:defRPr sz="90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6" name="Google Shape;106;p24"/>
          <p:cNvSpPr txBox="1">
            <a:spLocks noGrp="1"/>
          </p:cNvSpPr>
          <p:nvPr>
            <p:ph type="body" idx="2"/>
          </p:nvPr>
        </p:nvSpPr>
        <p:spPr>
          <a:xfrm>
            <a:off x="5262614" y="2142545"/>
            <a:ext cx="2894700" cy="746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7" name="Google Shape;107;p24"/>
          <p:cNvSpPr txBox="1">
            <a:spLocks noGrp="1"/>
          </p:cNvSpPr>
          <p:nvPr>
            <p:ph type="body" idx="3"/>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8" name="Google Shape;108;p24"/>
          <p:cNvSpPr txBox="1">
            <a:spLocks noGrp="1"/>
          </p:cNvSpPr>
          <p:nvPr>
            <p:ph type="body" idx="4"/>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09" name="Google Shape;109;p24"/>
          <p:cNvPicPr preferRelativeResize="0"/>
          <p:nvPr/>
        </p:nvPicPr>
        <p:blipFill rotWithShape="1">
          <a:blip r:embed="rId2">
            <a:alphaModFix/>
          </a:blip>
          <a:srcRect/>
          <a:stretch/>
        </p:blipFill>
        <p:spPr>
          <a:xfrm>
            <a:off x="375386" y="4793310"/>
            <a:ext cx="830144" cy="138358"/>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Image">
  <p:cSld name="Content with Image">
    <p:spTree>
      <p:nvGrpSpPr>
        <p:cNvPr id="1" name="Shape 110"/>
        <p:cNvGrpSpPr/>
        <p:nvPr/>
      </p:nvGrpSpPr>
      <p:grpSpPr>
        <a:xfrm>
          <a:off x="0" y="0"/>
          <a:ext cx="0" cy="0"/>
          <a:chOff x="0" y="0"/>
          <a:chExt cx="0" cy="0"/>
        </a:xfrm>
      </p:grpSpPr>
      <p:sp>
        <p:nvSpPr>
          <p:cNvPr id="111" name="Google Shape;111;p25"/>
          <p:cNvSpPr txBox="1">
            <a:spLocks noGrp="1"/>
          </p:cNvSpPr>
          <p:nvPr>
            <p:ph type="body" idx="1"/>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2" name="Google Shape;112;p25"/>
          <p:cNvSpPr txBox="1">
            <a:spLocks noGrp="1"/>
          </p:cNvSpPr>
          <p:nvPr>
            <p:ph type="body" idx="2"/>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13" name="Google Shape;113;p25"/>
          <p:cNvPicPr preferRelativeResize="0"/>
          <p:nvPr/>
        </p:nvPicPr>
        <p:blipFill rotWithShape="1">
          <a:blip r:embed="rId2">
            <a:alphaModFix/>
          </a:blip>
          <a:srcRect/>
          <a:stretch/>
        </p:blipFill>
        <p:spPr>
          <a:xfrm>
            <a:off x="375386" y="4793310"/>
            <a:ext cx="830144" cy="138358"/>
          </a:xfrm>
          <a:prstGeom prst="rect">
            <a:avLst/>
          </a:prstGeom>
          <a:noFill/>
          <a:ln>
            <a:noFill/>
          </a:ln>
        </p:spPr>
      </p:pic>
      <p:sp>
        <p:nvSpPr>
          <p:cNvPr id="114" name="Google Shape;114;p25"/>
          <p:cNvSpPr>
            <a:spLocks noGrp="1"/>
          </p:cNvSpPr>
          <p:nvPr>
            <p:ph type="pic" idx="3"/>
          </p:nvPr>
        </p:nvSpPr>
        <p:spPr>
          <a:xfrm>
            <a:off x="4572000" y="0"/>
            <a:ext cx="4572000" cy="5143500"/>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reaker">
  <p:cSld name="Breaker">
    <p:spTree>
      <p:nvGrpSpPr>
        <p:cNvPr id="1" name="Shape 115"/>
        <p:cNvGrpSpPr/>
        <p:nvPr/>
      </p:nvGrpSpPr>
      <p:grpSpPr>
        <a:xfrm>
          <a:off x="0" y="0"/>
          <a:ext cx="0" cy="0"/>
          <a:chOff x="0" y="0"/>
          <a:chExt cx="0" cy="0"/>
        </a:xfrm>
      </p:grpSpPr>
      <p:sp>
        <p:nvSpPr>
          <p:cNvPr id="116" name="Google Shape;116;p26"/>
          <p:cNvSpPr/>
          <p:nvPr/>
        </p:nvSpPr>
        <p:spPr>
          <a:xfrm>
            <a:off x="0" y="0"/>
            <a:ext cx="91440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17" name="Google Shape;117;p26"/>
          <p:cNvSpPr txBox="1">
            <a:spLocks noGrp="1"/>
          </p:cNvSpPr>
          <p:nvPr>
            <p:ph type="body" idx="1"/>
          </p:nvPr>
        </p:nvSpPr>
        <p:spPr>
          <a:xfrm>
            <a:off x="1540042" y="1913898"/>
            <a:ext cx="6063900" cy="1315800"/>
          </a:xfrm>
          <a:prstGeom prst="rect">
            <a:avLst/>
          </a:prstGeom>
          <a:noFill/>
          <a:ln>
            <a:noFill/>
          </a:ln>
        </p:spPr>
        <p:txBody>
          <a:bodyPr spcFirstLastPara="1" wrap="square" lIns="68575" tIns="34275" rIns="68575" bIns="34275" anchor="ctr" anchorCtr="0">
            <a:noAutofit/>
          </a:bodyPr>
          <a:lstStyle>
            <a:lvl1pPr marL="457200" marR="0" lvl="0" indent="-228600" algn="ctr"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118"/>
        <p:cNvGrpSpPr/>
        <p:nvPr/>
      </p:nvGrpSpPr>
      <p:grpSpPr>
        <a:xfrm>
          <a:off x="0" y="0"/>
          <a:ext cx="0" cy="0"/>
          <a:chOff x="0" y="0"/>
          <a:chExt cx="0" cy="0"/>
        </a:xfrm>
      </p:grpSpPr>
      <p:sp>
        <p:nvSpPr>
          <p:cNvPr id="119" name="Google Shape;119;p2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20" name="Google Shape;120;p27"/>
          <p:cNvPicPr preferRelativeResize="0"/>
          <p:nvPr/>
        </p:nvPicPr>
        <p:blipFill rotWithShape="1">
          <a:blip r:embed="rId2">
            <a:alphaModFix/>
          </a:blip>
          <a:srcRect/>
          <a:stretch/>
        </p:blipFill>
        <p:spPr>
          <a:xfrm>
            <a:off x="4826752" y="4314287"/>
            <a:ext cx="3658701" cy="376324"/>
          </a:xfrm>
          <a:prstGeom prst="rect">
            <a:avLst/>
          </a:prstGeom>
          <a:noFill/>
          <a:ln>
            <a:noFill/>
          </a:ln>
        </p:spPr>
      </p:pic>
      <p:sp>
        <p:nvSpPr>
          <p:cNvPr id="121" name="Google Shape;121;p27"/>
          <p:cNvSpPr txBox="1"/>
          <p:nvPr/>
        </p:nvSpPr>
        <p:spPr>
          <a:xfrm>
            <a:off x="658544" y="3865409"/>
            <a:ext cx="2659500" cy="1038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1" i="0">
                <a:solidFill>
                  <a:schemeClr val="lt1"/>
                </a:solidFill>
                <a:latin typeface="Arial"/>
                <a:ea typeface="Arial"/>
                <a:cs typeface="Arial"/>
                <a:sym typeface="Arial"/>
              </a:rPr>
              <a:t>AlmaBetter Edutech Pvt. Ltd.</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4th Floor, 133/2, Janardhan Towers,</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Residency Road, Bengaluru 560025</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u="sng">
                <a:solidFill>
                  <a:schemeClr val="hlink"/>
                </a:solidFill>
                <a:latin typeface="Arial"/>
                <a:ea typeface="Arial"/>
                <a:cs typeface="Arial"/>
                <a:sym typeface="Arial"/>
                <a:hlinkClick r:id="rId3"/>
              </a:rPr>
              <a:t>www.almabetter.com</a:t>
            </a: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a:solidFill>
                  <a:schemeClr val="lt1"/>
                </a:solidFill>
                <a:latin typeface="Arial"/>
                <a:ea typeface="Arial"/>
                <a:cs typeface="Arial"/>
                <a:sym typeface="Arial"/>
              </a:rPr>
              <a:t>+91-9513166012 / +91-9513164998</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p:txBody>
      </p:sp>
      <p:sp>
        <p:nvSpPr>
          <p:cNvPr id="122" name="Google Shape;122;p27"/>
          <p:cNvSpPr txBox="1"/>
          <p:nvPr/>
        </p:nvSpPr>
        <p:spPr>
          <a:xfrm>
            <a:off x="545348" y="480693"/>
            <a:ext cx="5098500" cy="1177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200" b="1" i="0">
                <a:solidFill>
                  <a:schemeClr val="lt1"/>
                </a:solidFill>
                <a:latin typeface="Arial"/>
                <a:ea typeface="Arial"/>
                <a:cs typeface="Arial"/>
                <a:sym typeface="Arial"/>
              </a:rPr>
              <a:t>Thank you.</a:t>
            </a:r>
            <a:endParaRPr sz="1100"/>
          </a:p>
        </p:txBody>
      </p:sp>
      <p:sp>
        <p:nvSpPr>
          <p:cNvPr id="123" name="Google Shape;123;p27"/>
          <p:cNvSpPr/>
          <p:nvPr/>
        </p:nvSpPr>
        <p:spPr>
          <a:xfrm>
            <a:off x="658544" y="1586872"/>
            <a:ext cx="2659500" cy="1080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2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2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769CF-BF54-497B-929B-9A17CA1ECBB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5B1DAE3-1F4F-46D1-B43F-2B506CCAE22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6D4AAB-0914-4327-8BC5-8BC0E9E2779C}"/>
              </a:ext>
            </a:extLst>
          </p:cNvPr>
          <p:cNvSpPr>
            <a:spLocks noGrp="1"/>
          </p:cNvSpPr>
          <p:nvPr>
            <p:ph type="dt" sz="half" idx="10"/>
          </p:nvPr>
        </p:nvSpPr>
        <p:spPr/>
        <p:txBody>
          <a:bodyPr/>
          <a:lstStyle/>
          <a:p>
            <a:fld id="{7E3D4EF1-0385-43D3-A179-699E3F2FE344}" type="datetime1">
              <a:rPr lang="en-IN" smtClean="0"/>
              <a:t>19-12-2025</a:t>
            </a:fld>
            <a:endParaRPr lang="en-IN" dirty="0"/>
          </a:p>
        </p:txBody>
      </p:sp>
      <p:sp>
        <p:nvSpPr>
          <p:cNvPr id="5" name="Footer Placeholder 4">
            <a:extLst>
              <a:ext uri="{FF2B5EF4-FFF2-40B4-BE49-F238E27FC236}">
                <a16:creationId xmlns:a16="http://schemas.microsoft.com/office/drawing/2014/main" id="{CA160BEC-DF77-4342-85BB-13D798252E9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B6B01EF-C618-4494-A74C-1BE7B29ED7A5}"/>
              </a:ext>
            </a:extLst>
          </p:cNvPr>
          <p:cNvSpPr>
            <a:spLocks noGrp="1"/>
          </p:cNvSpPr>
          <p:nvPr>
            <p:ph type="sldNum" sz="quarter" idx="12"/>
          </p:nvPr>
        </p:nvSpPr>
        <p:spPr/>
        <p:txBody>
          <a:bodyPr/>
          <a:lstStyle/>
          <a:p>
            <a:fld id="{865C73B9-B2B0-4ECC-AC2F-DC14E95F6B26}" type="slidenum">
              <a:rPr lang="en-IN" smtClean="0"/>
              <a:t>‹#›</a:t>
            </a:fld>
            <a:endParaRPr lang="en-IN" dirty="0"/>
          </a:p>
        </p:txBody>
      </p:sp>
    </p:spTree>
    <p:extLst>
      <p:ext uri="{BB962C8B-B14F-4D97-AF65-F5344CB8AC3E}">
        <p14:creationId xmlns:p14="http://schemas.microsoft.com/office/powerpoint/2010/main" val="3124290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6">
            <a:alphaModFix/>
          </a:blip>
          <a:stretch>
            <a:fillRect/>
          </a:stretch>
        </p:blipFill>
        <p:spPr>
          <a:xfrm>
            <a:off x="8602975" y="66525"/>
            <a:ext cx="348619" cy="3579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0"/>
          <p:cNvSpPr txBox="1"/>
          <p:nvPr/>
        </p:nvSpPr>
        <p:spPr>
          <a:xfrm>
            <a:off x="446900" y="11882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Welcome to </a:t>
            </a:r>
            <a:endParaRPr sz="4800" b="1">
              <a:solidFill>
                <a:srgbClr val="FFFFFF"/>
              </a:solidFill>
            </a:endParaRPr>
          </a:p>
        </p:txBody>
      </p:sp>
      <p:sp>
        <p:nvSpPr>
          <p:cNvPr id="131" name="Google Shape;131;p30"/>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0"/>
          <p:cNvSpPr txBox="1"/>
          <p:nvPr/>
        </p:nvSpPr>
        <p:spPr>
          <a:xfrm>
            <a:off x="516975" y="3653925"/>
            <a:ext cx="6545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700" b="1">
                <a:solidFill>
                  <a:srgbClr val="FFFFFF"/>
                </a:solidFill>
                <a:latin typeface="Montserrat"/>
                <a:ea typeface="Montserrat"/>
                <a:cs typeface="Montserrat"/>
                <a:sym typeface="Montserrat"/>
              </a:rPr>
              <a:t>New age upskilling platform for high growth careers</a:t>
            </a:r>
            <a:endParaRPr sz="1700" b="1">
              <a:solidFill>
                <a:srgbClr val="FFFFFF"/>
              </a:solidFill>
              <a:latin typeface="Montserrat"/>
              <a:ea typeface="Montserrat"/>
              <a:cs typeface="Montserrat"/>
              <a:sym typeface="Montserrat"/>
            </a:endParaRPr>
          </a:p>
        </p:txBody>
      </p:sp>
      <p:pic>
        <p:nvPicPr>
          <p:cNvPr id="133" name="Google Shape;133;p30"/>
          <p:cNvPicPr preferRelativeResize="0"/>
          <p:nvPr/>
        </p:nvPicPr>
        <p:blipFill rotWithShape="1">
          <a:blip r:embed="rId3">
            <a:alphaModFix/>
          </a:blip>
          <a:srcRect l="7791" t="27051" r="8061" b="27898"/>
          <a:stretch/>
        </p:blipFill>
        <p:spPr>
          <a:xfrm>
            <a:off x="525775" y="2037800"/>
            <a:ext cx="3759027" cy="739875"/>
          </a:xfrm>
          <a:prstGeom prst="rect">
            <a:avLst/>
          </a:prstGeom>
          <a:noFill/>
          <a:ln>
            <a:noFill/>
          </a:ln>
        </p:spPr>
      </p:pic>
      <p:pic>
        <p:nvPicPr>
          <p:cNvPr id="134" name="Google Shape;134;p30"/>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
        <p:nvSpPr>
          <p:cNvPr id="2" name="Google Shape;132;p30">
            <a:extLst>
              <a:ext uri="{FF2B5EF4-FFF2-40B4-BE49-F238E27FC236}">
                <a16:creationId xmlns:a16="http://schemas.microsoft.com/office/drawing/2014/main" id="{45A30687-11AF-2562-A0DA-DD59DE3F92F6}"/>
              </a:ext>
            </a:extLst>
          </p:cNvPr>
          <p:cNvSpPr txBox="1"/>
          <p:nvPr/>
        </p:nvSpPr>
        <p:spPr>
          <a:xfrm>
            <a:off x="6509842" y="4201830"/>
            <a:ext cx="2109372" cy="446400"/>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700" b="1" dirty="0">
                <a:solidFill>
                  <a:srgbClr val="FFFFFF"/>
                </a:solidFill>
                <a:latin typeface="Montserrat"/>
                <a:ea typeface="Montserrat"/>
                <a:cs typeface="Montserrat"/>
                <a:sym typeface="Montserrat"/>
              </a:rPr>
              <a:t>By </a:t>
            </a:r>
            <a:r>
              <a:rPr lang="en-GB" sz="1700" b="1" dirty="0" err="1">
                <a:solidFill>
                  <a:srgbClr val="FFFFFF"/>
                </a:solidFill>
                <a:latin typeface="Montserrat"/>
                <a:ea typeface="Montserrat"/>
                <a:cs typeface="Montserrat"/>
                <a:sym typeface="Montserrat"/>
              </a:rPr>
              <a:t>Urvshi</a:t>
            </a:r>
            <a:r>
              <a:rPr lang="en-GB" sz="1700" b="1" dirty="0">
                <a:solidFill>
                  <a:srgbClr val="FFFFFF"/>
                </a:solidFill>
                <a:latin typeface="Montserrat"/>
                <a:ea typeface="Montserrat"/>
                <a:cs typeface="Montserrat"/>
                <a:sym typeface="Montserrat"/>
              </a:rPr>
              <a:t> Singla</a:t>
            </a:r>
            <a:endParaRPr sz="1700" b="1" dirty="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body" idx="1"/>
          </p:nvPr>
        </p:nvSpPr>
        <p:spPr>
          <a:xfrm>
            <a:off x="735160" y="129516"/>
            <a:ext cx="7673700" cy="960300"/>
          </a:xfrm>
          <a:prstGeom prst="rect">
            <a:avLst/>
          </a:prstGeom>
          <a:noFill/>
          <a:ln>
            <a:noFill/>
          </a:ln>
        </p:spPr>
        <p:txBody>
          <a:bodyPr spcFirstLastPara="1" wrap="square" lIns="68575" tIns="34275" rIns="68575" bIns="34275" anchor="ctr" anchorCtr="0">
            <a:noAutofit/>
          </a:bodyPr>
          <a:lstStyle/>
          <a:p>
            <a:pPr marL="177800" lvl="0" indent="-177800" algn="ctr" rtl="0">
              <a:lnSpc>
                <a:spcPct val="90000"/>
              </a:lnSpc>
              <a:spcBef>
                <a:spcPts val="0"/>
              </a:spcBef>
              <a:spcAft>
                <a:spcPts val="0"/>
              </a:spcAft>
              <a:buClr>
                <a:schemeClr val="lt1"/>
              </a:buClr>
              <a:buSzPts val="5400"/>
              <a:buNone/>
            </a:pPr>
            <a:r>
              <a:rPr lang="en-GB" sz="3600"/>
              <a:t>Session Agenda</a:t>
            </a:r>
            <a:endParaRPr sz="3600">
              <a:solidFill>
                <a:srgbClr val="F00037"/>
              </a:solidFill>
            </a:endParaRPr>
          </a:p>
        </p:txBody>
      </p:sp>
      <p:sp>
        <p:nvSpPr>
          <p:cNvPr id="140" name="Google Shape;140;p31"/>
          <p:cNvSpPr txBox="1"/>
          <p:nvPr/>
        </p:nvSpPr>
        <p:spPr>
          <a:xfrm>
            <a:off x="735150" y="1339275"/>
            <a:ext cx="5555400" cy="1107965"/>
          </a:xfrm>
          <a:prstGeom prst="rect">
            <a:avLst/>
          </a:prstGeom>
          <a:noFill/>
          <a:ln>
            <a:noFill/>
          </a:ln>
        </p:spPr>
        <p:txBody>
          <a:bodyPr spcFirstLastPara="1" wrap="square" lIns="91425" tIns="91425" rIns="91425" bIns="91425" anchor="t" anchorCtr="0">
            <a:spAutoFit/>
          </a:bodyPr>
          <a:lstStyle/>
          <a:p>
            <a:pPr marL="342900" indent="-342900" algn="l" fontAlgn="base">
              <a:buClr>
                <a:schemeClr val="bg1"/>
              </a:buClr>
              <a:buFont typeface="Arial" panose="020B0604020202020204" pitchFamily="34" charset="0"/>
              <a:buChar char="•"/>
            </a:pPr>
            <a:endParaRPr lang="en-US" sz="2000" dirty="0">
              <a:solidFill>
                <a:schemeClr val="bg1"/>
              </a:solidFill>
              <a:latin typeface="Calibri" panose="020F0502020204030204" pitchFamily="34" charset="0"/>
              <a:cs typeface="Calibri" panose="020F0502020204030204" pitchFamily="34" charset="0"/>
            </a:endParaRPr>
          </a:p>
          <a:p>
            <a:pPr marL="342900" indent="-342900" algn="l" fontAlgn="base">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Lazy Loading &amp; Suspense</a:t>
            </a:r>
          </a:p>
          <a:p>
            <a:pPr algn="l" fontAlgn="base">
              <a:buClr>
                <a:schemeClr val="bg1"/>
              </a:buClr>
            </a:pPr>
            <a:endParaRPr lang="en-US" sz="2000" dirty="0">
              <a:solidFill>
                <a:schemeClr val="bg1"/>
              </a:solidFill>
              <a:latin typeface="Calibri" panose="020F0502020204030204" pitchFamily="34" charset="0"/>
              <a:cs typeface="Calibri" panose="020F0502020204030204" pitchFamily="34" charset="0"/>
            </a:endParaRPr>
          </a:p>
        </p:txBody>
      </p:sp>
      <p:pic>
        <p:nvPicPr>
          <p:cNvPr id="141" name="Google Shape;141;p31"/>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3" name="Title 1">
            <a:extLst>
              <a:ext uri="{FF2B5EF4-FFF2-40B4-BE49-F238E27FC236}">
                <a16:creationId xmlns:a16="http://schemas.microsoft.com/office/drawing/2014/main" id="{B45E7780-BEBD-4534-808F-0E82D26B1EDC}"/>
              </a:ext>
            </a:extLst>
          </p:cNvPr>
          <p:cNvSpPr>
            <a:spLocks noGrp="1"/>
          </p:cNvSpPr>
          <p:nvPr>
            <p:ph type="ctrTitle"/>
          </p:nvPr>
        </p:nvSpPr>
        <p:spPr>
          <a:xfrm>
            <a:off x="6258788" y="1059873"/>
            <a:ext cx="2646218" cy="1564402"/>
          </a:xfrm>
        </p:spPr>
        <p:txBody>
          <a:bodyPr>
            <a:normAutofit/>
          </a:bodyPr>
          <a:lstStyle/>
          <a:p>
            <a:r>
              <a:rPr lang="en-IN" sz="2100" b="1" dirty="0">
                <a:solidFill>
                  <a:srgbClr val="FFFFFF"/>
                </a:solidFill>
                <a:cs typeface="AngsanaUPC" panose="020B0502040204020203" pitchFamily="18" charset="-34"/>
              </a:rPr>
              <a:t>HTML</a:t>
            </a:r>
            <a:endParaRPr lang="en-IN" sz="1800" b="1" dirty="0">
              <a:solidFill>
                <a:srgbClr val="FFFFFF"/>
              </a:solidFill>
              <a:cs typeface="AngsanaUPC" panose="020B0502040204020203" pitchFamily="18" charset="-34"/>
            </a:endParaRPr>
          </a:p>
        </p:txBody>
      </p:sp>
      <p:sp>
        <p:nvSpPr>
          <p:cNvPr id="3" name="TextBox 2"/>
          <p:cNvSpPr txBox="1"/>
          <p:nvPr/>
        </p:nvSpPr>
        <p:spPr>
          <a:xfrm>
            <a:off x="381000" y="417426"/>
            <a:ext cx="5877788" cy="415498"/>
          </a:xfrm>
          <a:prstGeom prst="rect">
            <a:avLst/>
          </a:prstGeom>
          <a:noFill/>
        </p:spPr>
        <p:txBody>
          <a:bodyPr wrap="square" rtlCol="0">
            <a:spAutoFit/>
          </a:bodyPr>
          <a:lstStyle/>
          <a:p>
            <a:r>
              <a:rPr lang="en-IN" sz="2100" b="1" dirty="0"/>
              <a:t>Suspense and </a:t>
            </a:r>
            <a:r>
              <a:rPr lang="en-IN" sz="2100" b="1" dirty="0">
                <a:solidFill>
                  <a:srgbClr val="202124"/>
                </a:solidFill>
              </a:rPr>
              <a:t>D</a:t>
            </a:r>
            <a:r>
              <a:rPr lang="en-IN" sz="2100" b="1" dirty="0"/>
              <a:t>ata service</a:t>
            </a:r>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0" name="Rectangle 1">
            <a:extLst>
              <a:ext uri="{FF2B5EF4-FFF2-40B4-BE49-F238E27FC236}">
                <a16:creationId xmlns:a16="http://schemas.microsoft.com/office/drawing/2014/main" id="{AC604353-47CD-4D9B-8136-1E8422C783E4}"/>
              </a:ext>
            </a:extLst>
          </p:cNvPr>
          <p:cNvSpPr>
            <a:spLocks noChangeArrowheads="1"/>
          </p:cNvSpPr>
          <p:nvPr/>
        </p:nvSpPr>
        <p:spPr bwMode="auto">
          <a:xfrm>
            <a:off x="362813" y="1059873"/>
            <a:ext cx="8542193" cy="3116238"/>
          </a:xfrm>
          <a:prstGeom prst="rect">
            <a:avLst/>
          </a:prstGeom>
          <a:solidFill>
            <a:schemeClr val="bg1"/>
          </a:solidFill>
          <a:ln>
            <a:noFill/>
          </a:ln>
          <a:effectLst/>
        </p:spPr>
        <p:txBody>
          <a:bodyPr vert="horz" wrap="square" lIns="68580" tIns="34290" rIns="68580" bIns="34290" numCol="1" anchor="ctr" anchorCtr="0" compatLnSpc="1">
            <a:prstTxWarp prst="textNoShape">
              <a:avLst/>
            </a:prstTxWarp>
            <a:spAutoFit/>
          </a:bodyPr>
          <a:lstStyle/>
          <a:p>
            <a:pPr marL="257175" indent="-257175" defTabSz="685800" eaLnBrk="0" fontAlgn="base" hangingPunct="0">
              <a:spcBef>
                <a:spcPct val="0"/>
              </a:spcBef>
              <a:spcAft>
                <a:spcPct val="0"/>
              </a:spcAft>
              <a:buFont typeface="Arial" panose="020B0604020202020204" pitchFamily="34" charset="0"/>
              <a:buChar char="•"/>
            </a:pPr>
            <a:r>
              <a:rPr lang="en-US" sz="1800" dirty="0">
                <a:latin typeface="Calibri" panose="020F0502020204030204" pitchFamily="34" charset="0"/>
                <a:cs typeface="Calibri" panose="020F0502020204030204" pitchFamily="34" charset="0"/>
              </a:rPr>
              <a:t>Suspense is a feature for managing asynchronous operations in a React app. It lets your components communicate to React that they're waiting for some data.</a:t>
            </a:r>
          </a:p>
          <a:p>
            <a:pPr marL="257175" indent="-257175" defTabSz="685800" eaLnBrk="0" fontAlgn="base" hangingPunct="0">
              <a:spcBef>
                <a:spcPct val="0"/>
              </a:spcBef>
              <a:spcAft>
                <a:spcPct val="0"/>
              </a:spcAft>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57175" indent="-257175" eaLnBrk="0" fontAlgn="base" hangingPunct="0">
              <a:spcBef>
                <a:spcPct val="0"/>
              </a:spcBef>
              <a:spcAft>
                <a:spcPct val="0"/>
              </a:spcAft>
              <a:buFont typeface="Arial" panose="020B0604020202020204" pitchFamily="34" charset="0"/>
              <a:buChar char="•"/>
            </a:pPr>
            <a:r>
              <a:rPr lang="en-US" sz="1800" dirty="0" err="1">
                <a:latin typeface="Calibri" panose="020F0502020204030204" pitchFamily="34" charset="0"/>
                <a:cs typeface="Calibri" panose="020F0502020204030204" pitchFamily="34" charset="0"/>
              </a:rPr>
              <a:t>React.Suspense</a:t>
            </a:r>
            <a:r>
              <a:rPr lang="en-US" sz="1800" dirty="0">
                <a:latin typeface="Calibri" panose="020F0502020204030204" pitchFamily="34" charset="0"/>
                <a:cs typeface="Calibri" panose="020F0502020204030204" pitchFamily="34" charset="0"/>
              </a:rPr>
              <a:t> lets you specify the loading indicator in case some components in the tree below it are not yet ready to render The React Suspense feature was released as part of React 16 version. </a:t>
            </a:r>
          </a:p>
          <a:p>
            <a:pPr marL="257175" indent="-257175" defTabSz="685800" eaLnBrk="0" fontAlgn="base" hangingPunct="0">
              <a:spcBef>
                <a:spcPct val="0"/>
              </a:spcBef>
              <a:spcAft>
                <a:spcPct val="0"/>
              </a:spcAft>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57175" indent="-257175" defTabSz="685800" eaLnBrk="0" fontAlgn="base" hangingPunct="0">
              <a:spcBef>
                <a:spcPct val="0"/>
              </a:spcBef>
              <a:spcAft>
                <a:spcPct val="0"/>
              </a:spcAft>
              <a:buFont typeface="Arial" panose="020B0604020202020204" pitchFamily="34" charset="0"/>
              <a:buChar char="•"/>
            </a:pPr>
            <a:r>
              <a:rPr lang="en-US" sz="1800" dirty="0">
                <a:latin typeface="Calibri" panose="020F0502020204030204" pitchFamily="34" charset="0"/>
                <a:cs typeface="Calibri" panose="020F0502020204030204" pitchFamily="34" charset="0"/>
              </a:rPr>
              <a:t> Now, with React 18, we can use it for react-async data fetching. It is important to note that Suspense is not a data fetching library like react-async. Render-as-you-fetch.</a:t>
            </a:r>
          </a:p>
          <a:p>
            <a:pPr defTabSz="685800" eaLnBrk="0" fontAlgn="base" hangingPunct="0">
              <a:spcBef>
                <a:spcPct val="0"/>
              </a:spcBef>
              <a:spcAft>
                <a:spcPct val="0"/>
              </a:spcAft>
            </a:pPr>
            <a:endParaRPr lang="en-US" sz="1800" dirty="0">
              <a:latin typeface="Calibri" panose="020F0502020204030204" pitchFamily="34" charset="0"/>
              <a:cs typeface="Calibri" panose="020F0502020204030204" pitchFamily="34" charset="0"/>
            </a:endParaRPr>
          </a:p>
          <a:p>
            <a:pPr marL="257175" indent="-257175" defTabSz="685800" eaLnBrk="0" fontAlgn="base" hangingPunct="0">
              <a:spcBef>
                <a:spcPct val="0"/>
              </a:spcBef>
              <a:spcAft>
                <a:spcPct val="0"/>
              </a:spcAft>
              <a:buFont typeface="Arial" panose="020B0604020202020204" pitchFamily="34" charset="0"/>
              <a:buChar char="•"/>
            </a:pPr>
            <a:endParaRPr lang="en-US" alt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7389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8"/>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Q &amp; </a:t>
            </a:r>
            <a:r>
              <a:rPr lang="en-GB" sz="4800" b="1">
                <a:solidFill>
                  <a:srgbClr val="F00037"/>
                </a:solidFill>
              </a:rPr>
              <a:t>A</a:t>
            </a:r>
            <a:endParaRPr sz="4800" b="1">
              <a:solidFill>
                <a:srgbClr val="F00037"/>
              </a:solidFill>
            </a:endParaRPr>
          </a:p>
        </p:txBody>
      </p:sp>
      <p:sp>
        <p:nvSpPr>
          <p:cNvPr id="206" name="Google Shape;206;p38"/>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7" name="Google Shape;207;p38"/>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7"/>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Thank </a:t>
            </a:r>
            <a:r>
              <a:rPr lang="en-GB" sz="4800" b="1">
                <a:solidFill>
                  <a:srgbClr val="F00037"/>
                </a:solidFill>
              </a:rPr>
              <a:t>You</a:t>
            </a:r>
            <a:endParaRPr sz="4800" b="1">
              <a:solidFill>
                <a:srgbClr val="F00037"/>
              </a:solidFill>
            </a:endParaRPr>
          </a:p>
        </p:txBody>
      </p:sp>
      <p:sp>
        <p:nvSpPr>
          <p:cNvPr id="199" name="Google Shape;199;p37"/>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0" name="Google Shape;200;p37"/>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CC0000"/>
      </a:dk1>
      <a:lt1>
        <a:srgbClr val="134F5C"/>
      </a:lt1>
      <a:dk2>
        <a:srgbClr val="F5FDFF"/>
      </a:dk2>
      <a:lt2>
        <a:srgbClr val="FFF1F1"/>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1834</TotalTime>
  <Words>127</Words>
  <Application>Microsoft Office PowerPoint</Application>
  <PresentationFormat>On-screen Show (16:9)</PresentationFormat>
  <Paragraphs>15</Paragraphs>
  <Slides>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Calibri</vt:lpstr>
      <vt:lpstr>Arial</vt:lpstr>
      <vt:lpstr>AngsanaUPC</vt:lpstr>
      <vt:lpstr>Montserrat</vt:lpstr>
      <vt:lpstr>Simple Light</vt:lpstr>
      <vt:lpstr>Office Theme</vt:lpstr>
      <vt:lpstr>PowerPoint Presentation</vt:lpstr>
      <vt:lpstr>PowerPoint Presentation</vt:lpstr>
      <vt:lpstr>HTML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urvashi singla</cp:lastModifiedBy>
  <cp:revision>122</cp:revision>
  <dcterms:modified xsi:type="dcterms:W3CDTF">2025-12-19T14:38:30Z</dcterms:modified>
</cp:coreProperties>
</file>